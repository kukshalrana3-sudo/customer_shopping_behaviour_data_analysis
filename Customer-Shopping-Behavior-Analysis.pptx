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Encode Sans Semi Condensed" panose="020B0604020202020204" charset="0"/>
      <p:regular r:id="rId13"/>
    </p:embeddedFont>
    <p:embeddedFont>
      <p:font typeface="Encode Sans Semi Condensed Bold" panose="020B0604020202020204" charset="0"/>
      <p:regular r:id="rId14"/>
    </p:embeddedFont>
    <p:embeddedFont>
      <p:font typeface="Encode Sans Semi Condensed SemiBold"/>
      <p:regular r:id="rId15"/>
    </p:embeddedFont>
    <p:embeddedFont>
      <p:font typeface="Piazzolla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3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analysis reviews customer transactions to identify business questions across customer segments, product performance, loyalty, incentives and shipping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the evidence base first: 3,900 purchases and 18 columns give breadth across customer and transaction attributes, while the analysis remains descriptive.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data preparation preceded the SQL work: ratings were imputed by product category, fields were standardized, useful derived fields were created, and redundant promotion information was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SQL work is organized into four decision lenses. The slide maps what was asked, rather than claiming results not available in the source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analysis compared revenue across gender and calculated contribution by age group. The appropriate business use is targeting exploration, because the source text does not establish segment rankings or amounts.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together three product lenses: satisfaction, demand and discount reliance. The analysis identified products in each lens, but the available source text does not provide names or percentages.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loyalty work connects subscriber economics, purchase-history segments and a test of whether more than five purchases relates to subscription. The source supports the question, not a confirmed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Discount and shipping are two levers that need joint measurement. The analysis identifies high-spending discount users and compares shipping types, while the decision question is order value versus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Power BI dashboard is the visual endpoint for the analysis. This summary represents the four lenses without fabricating dashboard values or recreating a fictional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five actions directly supported by the report: subscription benefits, repeat-buyer rewards, discount review, product campaigns and segment targeting.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AABB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F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AABB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30116"/>
            <a:ext cx="7924602" cy="3227884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3" name="Text 1"/>
          <p:cNvSpPr/>
          <p:nvPr/>
        </p:nvSpPr>
        <p:spPr>
          <a:xfrm>
            <a:off x="406390" y="3985716"/>
            <a:ext cx="751821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TRANSACTION ANALYSIS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6390" y="4244082"/>
            <a:ext cx="7111822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0" spc="-38" dirty="0">
                <a:solidFill>
                  <a:srgbClr val="FFFFFF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Customer Shopping</a:t>
            </a:r>
            <a:endParaRPr lang="en-US" sz="38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800" kern="0" spc="-38" dirty="0">
                <a:solidFill>
                  <a:srgbClr val="FFFFFF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Behavior Analysis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06390" y="5572224"/>
            <a:ext cx="355492" cy="571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06390" y="5892899"/>
            <a:ext cx="7111822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3,900 purchases across product categories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6390" y="6312595"/>
            <a:ext cx="751821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FFFFFF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Implications for subscriptions, loyalty, discounts, merchandising and targeting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9651759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0" spc="-38" dirty="0">
                <a:solidFill>
                  <a:srgbClr val="10284A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3,900 purchases provide a view of who buys and how.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8786" y="1937742"/>
            <a:ext cx="355492" cy="57150"/>
          </a:xfrm>
          <a:prstGeom prst="roundRect">
            <a:avLst>
              <a:gd name="adj" fmla="val 49999"/>
            </a:avLst>
          </a:prstGeom>
          <a:solidFill>
            <a:srgbClr val="10284A"/>
          </a:solidFill>
          <a:ln/>
        </p:spPr>
      </p:sp>
      <p:sp>
        <p:nvSpPr>
          <p:cNvPr id="4" name="Shape 2"/>
          <p:cNvSpPr/>
          <p:nvPr/>
        </p:nvSpPr>
        <p:spPr>
          <a:xfrm>
            <a:off x="558786" y="2385417"/>
            <a:ext cx="3691341" cy="63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5" name="Shape 3"/>
          <p:cNvSpPr/>
          <p:nvPr/>
        </p:nvSpPr>
        <p:spPr>
          <a:xfrm>
            <a:off x="558786" y="3577233"/>
            <a:ext cx="3691341" cy="63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2544167"/>
            <a:ext cx="3386549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0" spc="-38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3,900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1182" y="3264892"/>
            <a:ext cx="353894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ROWS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0127" y="2385417"/>
            <a:ext cx="3691341" cy="63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9" name="Shape 7"/>
          <p:cNvSpPr/>
          <p:nvPr/>
        </p:nvSpPr>
        <p:spPr>
          <a:xfrm>
            <a:off x="4250127" y="3577233"/>
            <a:ext cx="3691341" cy="63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10" name="Text 8"/>
          <p:cNvSpPr/>
          <p:nvPr/>
        </p:nvSpPr>
        <p:spPr>
          <a:xfrm>
            <a:off x="4402523" y="2544167"/>
            <a:ext cx="3386549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0" spc="-38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18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402523" y="3264892"/>
            <a:ext cx="353894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COLUMNS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41469" y="2385417"/>
            <a:ext cx="3691440" cy="63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7941469" y="3577233"/>
            <a:ext cx="3691440" cy="63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3865" y="2544167"/>
            <a:ext cx="338664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0" spc="-38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6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093865" y="3264892"/>
            <a:ext cx="353904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BEHAVIOR DOMAINS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8786" y="3977283"/>
            <a:ext cx="530846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What the dataset covers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8786" y="4396978"/>
            <a:ext cx="530846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Demographics, purchase details, discounts, purchase frequency, review ratings and shipping type.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4442" y="3977283"/>
            <a:ext cx="530846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How to read it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24442" y="4396978"/>
            <a:ext cx="530846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A descriptive transaction analysis, not evidence of causality.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8786" y="5908675"/>
            <a:ext cx="11074123" cy="63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21" name="Text 19"/>
          <p:cNvSpPr/>
          <p:nvPr/>
        </p:nvSpPr>
        <p:spPr>
          <a:xfrm>
            <a:off x="558786" y="6042025"/>
            <a:ext cx="110233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Analytical frame:</a:t>
            </a: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 the records support questions about behavior and value, not causal claims.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43777" y="2385417"/>
            <a:ext cx="12700" cy="1198166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23" name="Shape 21"/>
          <p:cNvSpPr/>
          <p:nvPr/>
        </p:nvSpPr>
        <p:spPr>
          <a:xfrm>
            <a:off x="7935119" y="2385417"/>
            <a:ext cx="12700" cy="1198166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089498" y="3799483"/>
            <a:ext cx="12700" cy="1289645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25" name="Text 23"/>
          <p:cNvSpPr/>
          <p:nvPr/>
        </p:nvSpPr>
        <p:spPr>
          <a:xfrm>
            <a:off x="558786" y="6552208"/>
            <a:ext cx="2382778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80324" y="6552208"/>
            <a:ext cx="611371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9651759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0" spc="-38" dirty="0">
                <a:solidFill>
                  <a:srgbClr val="10284A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The data was cleaned before business analysis.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8786" y="1937742"/>
            <a:ext cx="355492" cy="57150"/>
          </a:xfrm>
          <a:prstGeom prst="roundRect">
            <a:avLst>
              <a:gd name="adj" fmla="val 49999"/>
            </a:avLst>
          </a:prstGeom>
          <a:solidFill>
            <a:srgbClr val="10284A"/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3243461"/>
            <a:ext cx="8315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8786" y="3510161"/>
            <a:ext cx="3386450" cy="190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3643511"/>
            <a:ext cx="3386549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Repair ratings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58786" y="4063206"/>
            <a:ext cx="338654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Thirty-seven missing Review Rating values were imputed using the median within each product category.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02523" y="3243461"/>
            <a:ext cx="8315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2523" y="3510161"/>
            <a:ext cx="3386450" cy="190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10" name="Text 8"/>
          <p:cNvSpPr/>
          <p:nvPr/>
        </p:nvSpPr>
        <p:spPr>
          <a:xfrm>
            <a:off x="4402523" y="3643511"/>
            <a:ext cx="3386549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Standardize fields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02523" y="4063206"/>
            <a:ext cx="338654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Columns were standardized to snake case; age groups and purchase-frequency days were engineered.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46261" y="3243461"/>
            <a:ext cx="8315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46261" y="3510161"/>
            <a:ext cx="3386549" cy="190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46261" y="3643511"/>
            <a:ext cx="338664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Load for analysis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46261" y="4063206"/>
            <a:ext cx="338664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Promo Code Used was dropped after a redundancy check with Discount Applied; cleaned data was loaded into PostgreSQL.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58786" y="5908675"/>
            <a:ext cx="11074123" cy="63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17" name="Text 15"/>
          <p:cNvSpPr/>
          <p:nvPr/>
        </p:nvSpPr>
        <p:spPr>
          <a:xfrm>
            <a:off x="558786" y="6042025"/>
            <a:ext cx="110233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Result:</a:t>
            </a: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 the business questions use a consistent transaction table.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8786" y="6552208"/>
            <a:ext cx="2382778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78241" y="6552208"/>
            <a:ext cx="613454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9651759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0" spc="-38" dirty="0">
                <a:solidFill>
                  <a:srgbClr val="10284A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Ten SQL questions connect transactions to decisions.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8786" y="1937742"/>
            <a:ext cx="355492" cy="57150"/>
          </a:xfrm>
          <a:prstGeom prst="roundRect">
            <a:avLst>
              <a:gd name="adj" fmla="val 49999"/>
            </a:avLst>
          </a:prstGeom>
          <a:solidFill>
            <a:srgbClr val="10284A"/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2385417"/>
            <a:ext cx="116329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Four lenses organize the analysis without implying quantitative results that the source text does not provide.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858492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8786" y="3379192"/>
            <a:ext cx="553706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REVENUE AND SEGMENTS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58786" y="3678833"/>
            <a:ext cx="55370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Gender, age groups and revenue contribution.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643" y="2858492"/>
            <a:ext cx="38099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73643" y="3379192"/>
            <a:ext cx="535926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PRODUCTS AND RATINGS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273643" y="3678833"/>
            <a:ext cx="535926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Demand, review ratings and discounted purchases.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786" y="4756646"/>
            <a:ext cx="38099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8786" y="5277346"/>
            <a:ext cx="553706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DISCOUNTS AND SUBSCRIPTIONS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58786" y="5576987"/>
            <a:ext cx="55370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Spend, revenue, repeat buying and subscription behavior.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3643" y="4756646"/>
            <a:ext cx="380990" cy="381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73643" y="5277346"/>
            <a:ext cx="535926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SHIPPING AND PURCHASE BEHAVIOR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6273643" y="5576987"/>
            <a:ext cx="535926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Discount use, purchase amount and service options.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089498" y="2858492"/>
            <a:ext cx="12700" cy="1720354"/>
          </a:xfrm>
          <a:prstGeom prst="rect">
            <a:avLst/>
          </a:prstGeom>
          <a:solidFill>
            <a:srgbClr val="B3C0CD"/>
          </a:solidFill>
          <a:ln/>
        </p:spPr>
      </p:sp>
      <p:sp>
        <p:nvSpPr>
          <p:cNvPr id="18" name="Shape 12"/>
          <p:cNvSpPr/>
          <p:nvPr/>
        </p:nvSpPr>
        <p:spPr>
          <a:xfrm>
            <a:off x="558786" y="4572496"/>
            <a:ext cx="5537061" cy="12700"/>
          </a:xfrm>
          <a:prstGeom prst="rect">
            <a:avLst/>
          </a:prstGeom>
          <a:solidFill>
            <a:srgbClr val="B3C0CD"/>
          </a:solidFill>
          <a:ln/>
        </p:spPr>
      </p:sp>
      <p:sp>
        <p:nvSpPr>
          <p:cNvPr id="19" name="Shape 13"/>
          <p:cNvSpPr/>
          <p:nvPr/>
        </p:nvSpPr>
        <p:spPr>
          <a:xfrm>
            <a:off x="6089498" y="4578846"/>
            <a:ext cx="12700" cy="1720354"/>
          </a:xfrm>
          <a:prstGeom prst="rect">
            <a:avLst/>
          </a:prstGeom>
          <a:solidFill>
            <a:srgbClr val="B3C0CD"/>
          </a:solidFill>
          <a:ln/>
        </p:spPr>
      </p:sp>
      <p:sp>
        <p:nvSpPr>
          <p:cNvPr id="20" name="Shape 14"/>
          <p:cNvSpPr/>
          <p:nvPr/>
        </p:nvSpPr>
        <p:spPr>
          <a:xfrm>
            <a:off x="6095848" y="4572496"/>
            <a:ext cx="5537061" cy="12700"/>
          </a:xfrm>
          <a:prstGeom prst="rect">
            <a:avLst/>
          </a:prstGeom>
          <a:solidFill>
            <a:srgbClr val="B3C0CD"/>
          </a:solidFill>
          <a:ln/>
        </p:spPr>
      </p:sp>
      <p:sp>
        <p:nvSpPr>
          <p:cNvPr id="21" name="Text 15"/>
          <p:cNvSpPr/>
          <p:nvPr/>
        </p:nvSpPr>
        <p:spPr>
          <a:xfrm>
            <a:off x="558786" y="6552208"/>
            <a:ext cx="2382778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569212" y="6552208"/>
            <a:ext cx="622483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9651759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0" spc="-38" dirty="0">
                <a:solidFill>
                  <a:srgbClr val="10284A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Revenue analysis spans gender and age groups.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8786" y="1937742"/>
            <a:ext cx="355492" cy="57150"/>
          </a:xfrm>
          <a:prstGeom prst="roundRect">
            <a:avLst>
              <a:gd name="adj" fmla="val 49999"/>
            </a:avLst>
          </a:prstGeom>
          <a:solidFill>
            <a:srgbClr val="10284A"/>
          </a:solidFill>
          <a:ln/>
        </p:spPr>
      </p:sp>
      <p:sp>
        <p:nvSpPr>
          <p:cNvPr id="4" name="Shape 2"/>
          <p:cNvSpPr/>
          <p:nvPr/>
        </p:nvSpPr>
        <p:spPr>
          <a:xfrm>
            <a:off x="558786" y="2385417"/>
            <a:ext cx="3948708" cy="3913783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2614017"/>
            <a:ext cx="372011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TARGETING QUESTIONS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7380" y="4144764"/>
            <a:ext cx="3491520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0" spc="-28" dirty="0">
                <a:solidFill>
                  <a:srgbClr val="FFFFFF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Who contributes revenue across customer segments?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87380" y="5556250"/>
            <a:ext cx="349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Exact rankings and values are not established by the available text.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12187" y="2588617"/>
            <a:ext cx="318176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Gender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12187" y="3008313"/>
            <a:ext cx="31817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SQL compared total revenue from male and female customers.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1142" y="2588617"/>
            <a:ext cx="318176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Age groups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51142" y="3008313"/>
            <a:ext cx="31817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SQL calculated revenue contribution by age group.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12187" y="5686425"/>
            <a:ext cx="6820722" cy="612775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5040782" y="5864225"/>
            <a:ext cx="659212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Use:</a:t>
            </a: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 frame segment evidence for targeting questions, not as a confirmed ranking.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16198" y="2385417"/>
            <a:ext cx="12700" cy="3161308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15" name="Text 13"/>
          <p:cNvSpPr/>
          <p:nvPr/>
        </p:nvSpPr>
        <p:spPr>
          <a:xfrm>
            <a:off x="558786" y="6552208"/>
            <a:ext cx="2382778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77943" y="6552208"/>
            <a:ext cx="613752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9651759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0" spc="-38" dirty="0">
                <a:solidFill>
                  <a:srgbClr val="10284A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Product analysis joins demand, satisfaction and discount reliance.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8786" y="1937742"/>
            <a:ext cx="355492" cy="57150"/>
          </a:xfrm>
          <a:prstGeom prst="roundRect">
            <a:avLst>
              <a:gd name="adj" fmla="val 49999"/>
            </a:avLst>
          </a:prstGeom>
          <a:solidFill>
            <a:srgbClr val="10284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563217"/>
            <a:ext cx="476238" cy="476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1981" y="3179167"/>
            <a:ext cx="348814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SATISFACTION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1981" y="3437533"/>
            <a:ext cx="328495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Highest average review ratings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61981" y="3857228"/>
            <a:ext cx="328495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The analysis identified five products with the highest average review ratings.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322" y="2563217"/>
            <a:ext cx="476238" cy="476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53322" y="3179167"/>
            <a:ext cx="348814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DEMAND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453322" y="3437533"/>
            <a:ext cx="328495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Most-purchased products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453322" y="3857228"/>
            <a:ext cx="328495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The analysis identified the top three most-purchased products per category.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663" y="2563217"/>
            <a:ext cx="476238" cy="4762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44663" y="3179167"/>
            <a:ext cx="348824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DISCOUNT RELIANCE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8144663" y="3437533"/>
            <a:ext cx="348824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Highest discounted-purchase share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144663" y="3857228"/>
            <a:ext cx="3488246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The analysis identified five products with the highest share of discounted purchases.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58786" y="5908675"/>
            <a:ext cx="11074123" cy="63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17" name="Text 12"/>
          <p:cNvSpPr/>
          <p:nvPr/>
        </p:nvSpPr>
        <p:spPr>
          <a:xfrm>
            <a:off x="558786" y="6042025"/>
            <a:ext cx="110233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Interpretation guardrail:</a:t>
            </a: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 product names and percentages remain out until source figures can verify them.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243777" y="2385417"/>
            <a:ext cx="12700" cy="3307358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19" name="Shape 14"/>
          <p:cNvSpPr/>
          <p:nvPr/>
        </p:nvSpPr>
        <p:spPr>
          <a:xfrm>
            <a:off x="7935119" y="2385417"/>
            <a:ext cx="12700" cy="3307358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20" name="Text 15"/>
          <p:cNvSpPr/>
          <p:nvPr/>
        </p:nvSpPr>
        <p:spPr>
          <a:xfrm>
            <a:off x="558786" y="6552208"/>
            <a:ext cx="2382778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71196" y="6552208"/>
            <a:ext cx="620499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9651759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0" spc="-38" dirty="0">
                <a:solidFill>
                  <a:srgbClr val="10284A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Subscriptions and repeat buying are a loyalty opportunity.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8786" y="1937742"/>
            <a:ext cx="355492" cy="57150"/>
          </a:xfrm>
          <a:prstGeom prst="roundRect">
            <a:avLst>
              <a:gd name="adj" fmla="val 49999"/>
            </a:avLst>
          </a:prstGeom>
          <a:solidFill>
            <a:srgbClr val="10284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3281561"/>
            <a:ext cx="3564344" cy="142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281" y="4043561"/>
            <a:ext cx="318335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E2A3A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Compare subscribers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49281" y="4406106"/>
            <a:ext cx="3183354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Compare average spend and total revenue for subscribers and non-subscribers.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626" y="2995811"/>
            <a:ext cx="3564344" cy="1428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04121" y="3757811"/>
            <a:ext cx="318335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E2A3A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Classify purchase history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04121" y="4120356"/>
            <a:ext cx="318335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Classify customers as New, Returning and Loyal using purchase history.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465" y="2710061"/>
            <a:ext cx="3564444" cy="1428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58961" y="3472061"/>
            <a:ext cx="3183453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1E2A3A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Test subscription relationship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258961" y="3834606"/>
            <a:ext cx="3183453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Check whether customers with more than five purchases were more likely to subscribe.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58786" y="5908675"/>
            <a:ext cx="11074123" cy="63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14" name="Text 9"/>
          <p:cNvSpPr/>
          <p:nvPr/>
        </p:nvSpPr>
        <p:spPr>
          <a:xfrm>
            <a:off x="558786" y="6042025"/>
            <a:ext cx="110233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Opportunity:</a:t>
            </a: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 use the analysis to shape loyalty offers without treating the tested relationship as a confirmed finding.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58786" y="6552208"/>
            <a:ext cx="2382778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582309" y="6552208"/>
            <a:ext cx="609386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9651759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0" spc="-38" dirty="0">
                <a:solidFill>
                  <a:srgbClr val="10284A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Discount and shipping behavior deserve closer measurement.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8786" y="1937742"/>
            <a:ext cx="355492" cy="57150"/>
          </a:xfrm>
          <a:prstGeom prst="roundRect">
            <a:avLst>
              <a:gd name="adj" fmla="val 49999"/>
            </a:avLst>
          </a:prstGeom>
          <a:solidFill>
            <a:srgbClr val="10284A"/>
          </a:solidFill>
          <a:ln/>
        </p:spPr>
      </p:sp>
      <p:sp>
        <p:nvSpPr>
          <p:cNvPr id="4" name="Shape 2"/>
          <p:cNvSpPr/>
          <p:nvPr/>
        </p:nvSpPr>
        <p:spPr>
          <a:xfrm>
            <a:off x="558786" y="2385417"/>
            <a:ext cx="5384665" cy="330735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2614017"/>
            <a:ext cx="515607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1E2A3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DISCOUNT BEHAVIOR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7380" y="2872383"/>
            <a:ext cx="4927477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0" spc="-21" dirty="0">
                <a:solidFill>
                  <a:srgbClr val="1E2A3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High-spending discount users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87380" y="3350518"/>
            <a:ext cx="492747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Customers whose discounted purchases exceeded average purchase amount were identified.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7380" y="5167015"/>
            <a:ext cx="1673382" cy="297160"/>
          </a:xfrm>
          <a:prstGeom prst="roundRect">
            <a:avLst>
              <a:gd name="adj" fmla="val 3846"/>
            </a:avLst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1677" y="5224165"/>
            <a:ext cx="205437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96" dirty="0">
                <a:solidFill>
                  <a:srgbClr val="1E2A3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MARGIN CONTROL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8244" y="2385417"/>
            <a:ext cx="5384665" cy="330735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476838" y="2614017"/>
            <a:ext cx="515607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1E2A3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SHIPPING BEHAVIOR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76838" y="2872383"/>
            <a:ext cx="4927477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0" spc="-21" dirty="0">
                <a:solidFill>
                  <a:srgbClr val="1E2A3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Standard versus Express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76838" y="3350518"/>
            <a:ext cx="492747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Average purchase amounts were compared between Standard and Express shipping.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76838" y="5167015"/>
            <a:ext cx="1634390" cy="297160"/>
          </a:xfrm>
          <a:prstGeom prst="roundRect">
            <a:avLst>
              <a:gd name="adj" fmla="val 3846"/>
            </a:avLst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1135" y="5224165"/>
            <a:ext cx="201538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96" dirty="0">
                <a:solidFill>
                  <a:srgbClr val="1E2A3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SERVICE OPTIONS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786" y="5908675"/>
            <a:ext cx="11074123" cy="635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17" name="Text 15"/>
          <p:cNvSpPr/>
          <p:nvPr/>
        </p:nvSpPr>
        <p:spPr>
          <a:xfrm>
            <a:off x="558786" y="6042025"/>
            <a:ext cx="110233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Business question:</a:t>
            </a: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 do incentives and service options support valuable orders without eroding margin?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8786" y="6552208"/>
            <a:ext cx="2382778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66136" y="6552208"/>
            <a:ext cx="625559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9651759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0" spc="-38" dirty="0">
                <a:solidFill>
                  <a:srgbClr val="10284A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The analysis culminates in an interactive dashboard.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8786" y="1937742"/>
            <a:ext cx="355492" cy="57150"/>
          </a:xfrm>
          <a:prstGeom prst="roundRect">
            <a:avLst>
              <a:gd name="adj" fmla="val 49999"/>
            </a:avLst>
          </a:prstGeom>
          <a:solidFill>
            <a:srgbClr val="10284A"/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2385417"/>
            <a:ext cx="116329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A Power BI dashboard was built to present the findings visually.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8786" y="2858492"/>
            <a:ext cx="5460863" cy="1449487"/>
          </a:xfrm>
          <a:prstGeom prst="rect">
            <a:avLst/>
          </a:prstGeom>
          <a:solidFill>
            <a:srgbClr val="D3DCE5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3061692"/>
            <a:ext cx="525766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00000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REVENUE AND SEGMENTS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1981" y="3320058"/>
            <a:ext cx="505447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Customer contribution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1981" y="3739753"/>
            <a:ext cx="525766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Gender and age-group revenue questions.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046" y="2858492"/>
            <a:ext cx="5460863" cy="1449487"/>
          </a:xfrm>
          <a:prstGeom prst="rect">
            <a:avLst/>
          </a:prstGeom>
          <a:solidFill>
            <a:srgbClr val="D3DCE5"/>
          </a:solidFill>
          <a:ln/>
        </p:spPr>
      </p:sp>
      <p:sp>
        <p:nvSpPr>
          <p:cNvPr id="10" name="Text 8"/>
          <p:cNvSpPr/>
          <p:nvPr/>
        </p:nvSpPr>
        <p:spPr>
          <a:xfrm>
            <a:off x="6375241" y="3061692"/>
            <a:ext cx="525766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00000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PRODUCTS AND RATINGS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75241" y="3320058"/>
            <a:ext cx="505447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Demand and satisfaction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75241" y="3739753"/>
            <a:ext cx="525766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Purchase, rating and discount-reliance questions.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8786" y="4460379"/>
            <a:ext cx="5460863" cy="1449586"/>
          </a:xfrm>
          <a:prstGeom prst="rect">
            <a:avLst/>
          </a:prstGeom>
          <a:solidFill>
            <a:srgbClr val="D3DCE5"/>
          </a:solidFill>
          <a:ln/>
        </p:spPr>
      </p:sp>
      <p:sp>
        <p:nvSpPr>
          <p:cNvPr id="14" name="Text 12"/>
          <p:cNvSpPr/>
          <p:nvPr/>
        </p:nvSpPr>
        <p:spPr>
          <a:xfrm>
            <a:off x="761981" y="4663579"/>
            <a:ext cx="525766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00000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SUBSCRIPTIONS AND LOYALTY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1981" y="4921945"/>
            <a:ext cx="505447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Repeat behavior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1981" y="5341640"/>
            <a:ext cx="525766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Subscriber comparisons and purchase-history segments.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046" y="4460379"/>
            <a:ext cx="5460863" cy="1449586"/>
          </a:xfrm>
          <a:prstGeom prst="rect">
            <a:avLst/>
          </a:prstGeom>
          <a:solidFill>
            <a:srgbClr val="D3DCE5"/>
          </a:solidFill>
          <a:ln/>
        </p:spPr>
      </p:sp>
      <p:sp>
        <p:nvSpPr>
          <p:cNvPr id="18" name="Text 16"/>
          <p:cNvSpPr/>
          <p:nvPr/>
        </p:nvSpPr>
        <p:spPr>
          <a:xfrm>
            <a:off x="6375241" y="4663579"/>
            <a:ext cx="525766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84" dirty="0">
                <a:solidFill>
                  <a:srgbClr val="00000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DISCOUNTS AND SHIPPING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5241" y="4921945"/>
            <a:ext cx="505447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Order value questions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241" y="5341640"/>
            <a:ext cx="525766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Incentive and service-option comparisons.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8786" y="6125865"/>
            <a:ext cx="11632909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0" spc="10" dirty="0">
                <a:solidFill>
                  <a:srgbClr val="47576B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Dashboard-inspired summary of the four analysis lenses; no metrics are shown because source figures are not available.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8786" y="6552208"/>
            <a:ext cx="2382778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71196" y="6552208"/>
            <a:ext cx="620499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9651759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kern="0" spc="-38" dirty="0">
                <a:solidFill>
                  <a:srgbClr val="10284A"/>
                </a:solidFill>
                <a:latin typeface="Piazzolla SemiBold" pitchFamily="34" charset="0"/>
                <a:ea typeface="Piazzolla SemiBold" pitchFamily="34" charset="-122"/>
                <a:cs typeface="Piazzolla SemiBold" pitchFamily="34" charset="-120"/>
              </a:rPr>
              <a:t>Five actions translate analysis into business decisions.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8786" y="1937742"/>
            <a:ext cx="355492" cy="57150"/>
          </a:xfrm>
          <a:prstGeom prst="roundRect">
            <a:avLst>
              <a:gd name="adj" fmla="val 49999"/>
            </a:avLst>
          </a:prstGeom>
          <a:solidFill>
            <a:srgbClr val="10284A"/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2418755"/>
            <a:ext cx="8315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33129" y="2385417"/>
            <a:ext cx="1069978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Boost subscriptions</a:t>
            </a: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 with exclusive benefits.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8786" y="3133130"/>
            <a:ext cx="8315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3129" y="3099792"/>
            <a:ext cx="1069978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Reward repeat buyers</a:t>
            </a: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 to move them into the Loyal segment.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8786" y="3847505"/>
            <a:ext cx="8315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3129" y="3814167"/>
            <a:ext cx="1069978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Review discount policy</a:t>
            </a: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 against margin control.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8786" y="4561880"/>
            <a:ext cx="8315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3129" y="4528542"/>
            <a:ext cx="1069978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Feature top-rated and best-selling products</a:t>
            </a:r>
            <a:r>
              <a:rPr lang="en-US" sz="15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 in campaigns.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786" y="5276255"/>
            <a:ext cx="8315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0284A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3129" y="5242917"/>
            <a:ext cx="1069978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Target high-revenue age groups and express-shipping users.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58786" y="5715992"/>
            <a:ext cx="11074123" cy="612775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15" name="Text 13"/>
          <p:cNvSpPr/>
          <p:nvPr/>
        </p:nvSpPr>
        <p:spPr>
          <a:xfrm>
            <a:off x="787380" y="5893792"/>
            <a:ext cx="1084552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Decision use:</a:t>
            </a:r>
            <a:r>
              <a:rPr lang="en-US" sz="1500" dirty="0">
                <a:solidFill>
                  <a:srgbClr val="FFFFFF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 prioritize actions as figures become available from the analysis and dashboard.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58786" y="2864842"/>
            <a:ext cx="11074123" cy="12700"/>
          </a:xfrm>
          <a:prstGeom prst="rect">
            <a:avLst/>
          </a:prstGeom>
          <a:solidFill>
            <a:srgbClr val="B3C0CD"/>
          </a:solidFill>
          <a:ln/>
        </p:spPr>
      </p:sp>
      <p:sp>
        <p:nvSpPr>
          <p:cNvPr id="17" name="Shape 15"/>
          <p:cNvSpPr/>
          <p:nvPr/>
        </p:nvSpPr>
        <p:spPr>
          <a:xfrm>
            <a:off x="558786" y="3579217"/>
            <a:ext cx="11074123" cy="12700"/>
          </a:xfrm>
          <a:prstGeom prst="rect">
            <a:avLst/>
          </a:prstGeom>
          <a:solidFill>
            <a:srgbClr val="B3C0CD"/>
          </a:solidFill>
          <a:ln/>
        </p:spPr>
      </p:sp>
      <p:sp>
        <p:nvSpPr>
          <p:cNvPr id="18" name="Shape 16"/>
          <p:cNvSpPr/>
          <p:nvPr/>
        </p:nvSpPr>
        <p:spPr>
          <a:xfrm>
            <a:off x="558786" y="4293592"/>
            <a:ext cx="11074123" cy="12700"/>
          </a:xfrm>
          <a:prstGeom prst="rect">
            <a:avLst/>
          </a:prstGeom>
          <a:solidFill>
            <a:srgbClr val="B3C0CD"/>
          </a:solidFill>
          <a:ln/>
        </p:spPr>
      </p:sp>
      <p:sp>
        <p:nvSpPr>
          <p:cNvPr id="19" name="Shape 17"/>
          <p:cNvSpPr/>
          <p:nvPr/>
        </p:nvSpPr>
        <p:spPr>
          <a:xfrm>
            <a:off x="558786" y="5007967"/>
            <a:ext cx="11074123" cy="12700"/>
          </a:xfrm>
          <a:prstGeom prst="rect">
            <a:avLst/>
          </a:prstGeom>
          <a:solidFill>
            <a:srgbClr val="B3C0CD"/>
          </a:solidFill>
          <a:ln/>
        </p:spPr>
      </p:sp>
      <p:sp>
        <p:nvSpPr>
          <p:cNvPr id="20" name="Text 18"/>
          <p:cNvSpPr/>
          <p:nvPr/>
        </p:nvSpPr>
        <p:spPr>
          <a:xfrm>
            <a:off x="558786" y="6552208"/>
            <a:ext cx="2382778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Customer Shopping Behavior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8037" y="6552208"/>
            <a:ext cx="663658" cy="1542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E2A3A"/>
                </a:solidFill>
                <a:latin typeface="Encode Sans Semi Condensed" pitchFamily="34" charset="0"/>
                <a:ea typeface="Encode Sans Semi Condensed" pitchFamily="34" charset="-122"/>
                <a:cs typeface="Encode Sans Semi Condense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1016</Words>
  <Application>Microsoft Office PowerPoint</Application>
  <PresentationFormat>Widescreen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Encode Sans Semi Condensed SemiBold</vt:lpstr>
      <vt:lpstr>Encode Sans Semi Condensed</vt:lpstr>
      <vt:lpstr>Piazzolla SemiBold</vt:lpstr>
      <vt:lpstr>Encode Sans Semi Condensed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Flint Marketing</cp:lastModifiedBy>
  <cp:revision>1</cp:revision>
  <dcterms:created xsi:type="dcterms:W3CDTF">2026-09-24T12:25:34Z</dcterms:created>
  <dcterms:modified xsi:type="dcterms:W3CDTF">2026-09-24T13:14:52Z</dcterms:modified>
</cp:coreProperties>
</file>